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Asistente IA Corporativo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8AB4F8"/>
                </a:solidFill>
                <a:latin typeface="Calibri"/>
              </a:rPr>
              <a:t>CorusIntranetEngine v2.0  ·  Consulta inteligente de procesos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A9AA8"/>
                </a:solidFill>
                <a:latin typeface="Calibri"/>
              </a:rPr>
              <a:t>Chatbot con IA (RAG) sobre los manuales de Parafiscales y Pensiones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9AA8"/>
                </a:solidFill>
                <a:latin typeface="Calibri"/>
              </a:rPr>
              <a:t>Presentación técnica  ·  15 minutos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solidFill>
            <a:srgbClr val="6CC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4754880"/>
            <a:ext cx="457200" cy="45720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A9AA8"/>
                </a:solidFill>
                <a:latin typeface="Calibri"/>
              </a:rPr>
              <a:t>Lo que veremos en los próximos 15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>
                <a:solidFill>
                  <a:srgbClr val="ECECF1"/>
                </a:solidFill>
                <a:latin typeface="Calibri"/>
              </a:rPr>
              <a:t>•  1. ¿Qué problema resuelve?  (1 min)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>
                <a:solidFill>
                  <a:srgbClr val="ECECF1"/>
                </a:solidFill>
                <a:latin typeface="Calibri"/>
              </a:rPr>
              <a:t>•  2. ¿Qué hace la aplicación?  (2 min)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>
                <a:solidFill>
                  <a:srgbClr val="ECECF1"/>
                </a:solidFill>
                <a:latin typeface="Calibri"/>
              </a:rPr>
              <a:t>•  3. Arquitectura general  (3 min)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>
                <a:solidFill>
                  <a:srgbClr val="ECECF1"/>
                </a:solidFill>
                <a:latin typeface="Calibri"/>
              </a:rPr>
              <a:t>•  4. Tecnologías utilizadas  (2 min)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>
                <a:solidFill>
                  <a:srgbClr val="ECECF1"/>
                </a:solidFill>
                <a:latin typeface="Calibri"/>
              </a:rPr>
              <a:t>•  5. Cómo funciona la IA por dentro (RAG)  (3 min)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>
                <a:solidFill>
                  <a:srgbClr val="ECECF1"/>
                </a:solidFill>
                <a:latin typeface="Calibri"/>
              </a:rPr>
              <a:t>•  6. Seguridad y control  (2 min)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>
                <a:solidFill>
                  <a:srgbClr val="ECECF1"/>
                </a:solidFill>
                <a:latin typeface="Calibri"/>
              </a:rPr>
              <a:t>•  7. Despliegue y mantenimiento  (1 min)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2000">
                <a:solidFill>
                  <a:srgbClr val="ECECF1"/>
                </a:solidFill>
                <a:latin typeface="Calibri"/>
              </a:rPr>
              <a:t>•  8. Resultados y próximos pasos  (1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1. 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A9AA8"/>
                </a:solidFill>
                <a:latin typeface="Calibri"/>
              </a:rPr>
              <a:t>¿Por qué construimos esto?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>
                <a:solidFill>
                  <a:srgbClr val="ECECF1"/>
                </a:solidFill>
                <a:latin typeface="Calibri"/>
              </a:rPr>
              <a:t>•  Los procedimientos de Parafiscales y Pensiones están en muchos PDFs.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>
                <a:solidFill>
                  <a:srgbClr val="ECECF1"/>
                </a:solidFill>
                <a:latin typeface="Calibri"/>
              </a:rPr>
              <a:t>•  Buscar 'cómo se hace un caso' es lento y manual.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>
                <a:solidFill>
                  <a:srgbClr val="ECECF1"/>
                </a:solidFill>
                <a:latin typeface="Calibri"/>
              </a:rPr>
              <a:t>•  El conocimiento depende de la experiencia de cada analista.</a:t>
            </a:r>
          </a:p>
          <a:p>
            <a:pPr lvl="1"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9A9AA8"/>
                </a:solidFill>
                <a:latin typeface="Calibri"/>
              </a:rPr>
              <a:t>–  Objetivo: un asistente que responda al instante, basándose SOLO en la documentación oficial.</a:t>
            </a:r>
          </a:p>
          <a:p>
            <a:pPr lvl="1">
              <a:lnSpc>
                <a:spcPct val="105000"/>
              </a:lnSpc>
              <a:spcAft>
                <a:spcPts val="1200"/>
              </a:spcAft>
            </a:pPr>
            <a:r>
              <a:rPr sz="1700">
                <a:solidFill>
                  <a:srgbClr val="9A9AA8"/>
                </a:solidFill>
                <a:latin typeface="Calibri"/>
              </a:rPr>
              <a:t>–  Resultado esperado: respuestas consistentes, rápidas y trazables.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2. ¿Qué hace la aplicación?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94960" cy="1325880"/>
          </a:xfrm>
          <a:prstGeom prst="rect">
            <a:avLst/>
          </a:prstGeom>
          <a:solidFill>
            <a:srgbClr val="2F2F2F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AB4F8"/>
                </a:solidFill>
                <a:latin typeface="Calibri"/>
              </a:rPr>
              <a:t>💬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El usuario pregunta en lenguaje natural y la IA responde con los pasos del caso.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394960" cy="1325880"/>
          </a:xfrm>
          <a:prstGeom prst="rect">
            <a:avLst/>
          </a:prstGeom>
          <a:solidFill>
            <a:srgbClr val="2F2F2F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6420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AB4F8"/>
                </a:solidFill>
                <a:latin typeface="Calibri"/>
              </a:rPr>
              <a:t>📚 Fuentes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Muestra el documento de origen como 'ventana de comandos' para verificar.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5394960" cy="1325880"/>
          </a:xfrm>
          <a:prstGeom prst="rect">
            <a:avLst/>
          </a:prstGeom>
          <a:solidFill>
            <a:srgbClr val="2F2F2F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186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AB4F8"/>
                </a:solidFill>
                <a:latin typeface="Calibri"/>
              </a:rPr>
              <a:t>🔐 Acceso por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Login con usuarios (Administrador / Analista), cada uno con su sesión.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108960"/>
            <a:ext cx="5394960" cy="1325880"/>
          </a:xfrm>
          <a:prstGeom prst="rect">
            <a:avLst/>
          </a:prstGeom>
          <a:solidFill>
            <a:srgbClr val="2F2F2F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21868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AB4F8"/>
                </a:solidFill>
                <a:latin typeface="Calibri"/>
              </a:rPr>
              <a:t>🗂️ Gestión de PDFs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El admin sube carpetas a GitHub y se indexan solas.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63440"/>
            <a:ext cx="5394960" cy="1325880"/>
          </a:xfrm>
          <a:prstGeom prst="rect">
            <a:avLst/>
          </a:prstGeom>
          <a:solidFill>
            <a:srgbClr val="2F2F2F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7316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AB4F8"/>
                </a:solidFill>
                <a:latin typeface="Calibri"/>
              </a:rPr>
              <a:t>🖥️ Control del servidor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Modo mantenimiento (cerrar/activar) desde el panel o desde el PC.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663440"/>
            <a:ext cx="5394960" cy="1325880"/>
          </a:xfrm>
          <a:prstGeom prst="rect">
            <a:avLst/>
          </a:prstGeom>
          <a:solidFill>
            <a:srgbClr val="2F2F2F"/>
          </a:solidFill>
          <a:ln w="1270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77316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AB4F8"/>
                </a:solidFill>
                <a:latin typeface="Calibri"/>
              </a:rPr>
              <a:t>📊 Estadísticas y accesos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1208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Registro de consultas y conexiones.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3. Arquitectura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A9AA8"/>
                </a:solidFill>
                <a:latin typeface="Calibri"/>
              </a:rPr>
              <a:t>De la pregunta del usuario a la respuesta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1371600"/>
          </a:xfrm>
          <a:prstGeom prst="rect">
            <a:avLst/>
          </a:prstGeom>
          <a:solidFill>
            <a:srgbClr val="2F2F2F"/>
          </a:solidFill>
          <a:ln w="1905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03120"/>
            <a:ext cx="2066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👤 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78608"/>
            <a:ext cx="2066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A9AA8"/>
                </a:solidFill>
                <a:latin typeface="Calibri"/>
              </a:rPr>
              <a:t>Navegador web
(Streamlit)</a:t>
            </a:r>
          </a:p>
        </p:txBody>
      </p:sp>
      <p:sp>
        <p:nvSpPr>
          <p:cNvPr id="9" name="Can 8"/>
          <p:cNvSpPr/>
          <p:nvPr/>
        </p:nvSpPr>
        <p:spPr>
          <a:xfrm>
            <a:off x="2880360" y="2514600"/>
            <a:ext cx="502920" cy="365760"/>
          </a:xfrm>
          <a:prstGeom prst="can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011680"/>
            <a:ext cx="2286000" cy="1371600"/>
          </a:xfrm>
          <a:prstGeom prst="rect">
            <a:avLst/>
          </a:prstGeom>
          <a:solidFill>
            <a:srgbClr val="2F2F2F"/>
          </a:solidFill>
          <a:ln w="1905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103120"/>
            <a:ext cx="2066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🖥️ App Streamlit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578608"/>
            <a:ext cx="2066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A9AA8"/>
                </a:solidFill>
                <a:latin typeface="Calibri"/>
              </a:rPr>
              <a:t>Login, chat, panel admin</a:t>
            </a:r>
          </a:p>
        </p:txBody>
      </p:sp>
      <p:sp>
        <p:nvSpPr>
          <p:cNvPr id="13" name="Can 12"/>
          <p:cNvSpPr/>
          <p:nvPr/>
        </p:nvSpPr>
        <p:spPr>
          <a:xfrm>
            <a:off x="5760720" y="2514600"/>
            <a:ext cx="502920" cy="365760"/>
          </a:xfrm>
          <a:prstGeom prst="can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2286000" cy="1371600"/>
          </a:xfrm>
          <a:prstGeom prst="rect">
            <a:avLst/>
          </a:prstGeom>
          <a:solidFill>
            <a:srgbClr val="2F2F2F"/>
          </a:solidFill>
          <a:ln w="1905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103120"/>
            <a:ext cx="2066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🧠 Motor IA (RAG)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78608"/>
            <a:ext cx="2066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A9AA8"/>
                </a:solidFill>
                <a:latin typeface="Calibri"/>
              </a:rPr>
              <a:t>Busca + arma respuesta</a:t>
            </a:r>
          </a:p>
        </p:txBody>
      </p:sp>
      <p:sp>
        <p:nvSpPr>
          <p:cNvPr id="17" name="Can 16"/>
          <p:cNvSpPr/>
          <p:nvPr/>
        </p:nvSpPr>
        <p:spPr>
          <a:xfrm>
            <a:off x="8641080" y="2514600"/>
            <a:ext cx="502920" cy="365760"/>
          </a:xfrm>
          <a:prstGeom prst="can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2011680"/>
            <a:ext cx="2377440" cy="1371600"/>
          </a:xfrm>
          <a:prstGeom prst="rect">
            <a:avLst/>
          </a:prstGeom>
          <a:solidFill>
            <a:srgbClr val="2F2F2F"/>
          </a:solidFill>
          <a:ln w="1905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2103120"/>
            <a:ext cx="21579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🤖 OpenAI GPT-3.5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578608"/>
            <a:ext cx="21579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A9AA8"/>
                </a:solidFill>
                <a:latin typeface="Calibri"/>
              </a:rPr>
              <a:t>Genera la respuesta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4023360"/>
            <a:ext cx="2286000" cy="1371600"/>
          </a:xfrm>
          <a:prstGeom prst="rect">
            <a:avLst/>
          </a:prstGeom>
          <a:solidFill>
            <a:srgbClr val="2F2F2F"/>
          </a:solidFill>
          <a:ln w="1905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8" y="4114800"/>
            <a:ext cx="2066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📂 PDFs (GitHub)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4590288"/>
            <a:ext cx="2066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A9AA8"/>
                </a:solidFill>
                <a:latin typeface="Calibri"/>
              </a:rPr>
              <a:t>Manuales por carpeta</a:t>
            </a:r>
          </a:p>
        </p:txBody>
      </p:sp>
      <p:sp>
        <p:nvSpPr>
          <p:cNvPr id="24" name="Can 23"/>
          <p:cNvSpPr/>
          <p:nvPr/>
        </p:nvSpPr>
        <p:spPr>
          <a:xfrm>
            <a:off x="5760720" y="4526280"/>
            <a:ext cx="502920" cy="365760"/>
          </a:xfrm>
          <a:prstGeom prst="can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023360"/>
            <a:ext cx="2286000" cy="1371600"/>
          </a:xfrm>
          <a:prstGeom prst="rect">
            <a:avLst/>
          </a:prstGeom>
          <a:solidFill>
            <a:srgbClr val="2F2F2F"/>
          </a:solidFill>
          <a:ln w="19050">
            <a:solidFill>
              <a:srgbClr val="8AB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114800"/>
            <a:ext cx="20665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🗃️ ChromaDB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590288"/>
            <a:ext cx="2066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9A9AA8"/>
                </a:solidFill>
                <a:latin typeface="Calibri"/>
              </a:rPr>
              <a:t>Base vectorial (búsqueda)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A9AA8"/>
                </a:solidFill>
                <a:latin typeface="Calibri"/>
              </a:rPr>
              <a:t>Los PDFs se convierten en 'vectores' y se guardan en ChromaDB; el Motor IA busca ahí el documento correcto y se lo pasa a GPT.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4. Tecnologías utilizadas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94960" cy="658368"/>
          </a:xfrm>
          <a:prstGeom prst="rect">
            <a:avLst/>
          </a:prstGeom>
          <a:solidFill>
            <a:srgbClr val="2F2F2F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27632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B4F8"/>
                </a:solidFill>
                <a:latin typeface="Calibri"/>
              </a:rPr>
              <a:t>Frontend /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62763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Streamlit 1.28 (Python)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394960" cy="658368"/>
          </a:xfrm>
          <a:prstGeom prst="rect">
            <a:avLst/>
          </a:prstGeom>
          <a:solidFill>
            <a:srgbClr val="2F2F2F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27632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B4F8"/>
                </a:solidFill>
                <a:latin typeface="Calibri"/>
              </a:rPr>
              <a:t>Lenguaje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62763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Python 3.11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5394960" cy="658368"/>
          </a:xfrm>
          <a:prstGeom prst="rect">
            <a:avLst/>
          </a:prstGeom>
          <a:solidFill>
            <a:srgbClr val="2F2F2F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B4F8"/>
                </a:solidFill>
                <a:latin typeface="Calibri"/>
              </a:rPr>
              <a:t>IA /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45059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OpenAI GPT-3.5-turbo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377440"/>
            <a:ext cx="5394960" cy="658368"/>
          </a:xfrm>
          <a:prstGeom prst="rect">
            <a:avLst/>
          </a:prstGeom>
          <a:solidFill>
            <a:srgbClr val="2F2F2F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450592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B4F8"/>
                </a:solidFill>
                <a:latin typeface="Calibri"/>
              </a:rPr>
              <a:t>Framework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45059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LangChain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5394960" cy="658368"/>
          </a:xfrm>
          <a:prstGeom prst="rect">
            <a:avLst/>
          </a:prstGeom>
          <a:solidFill>
            <a:srgbClr val="2F2F2F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273552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B4F8"/>
                </a:solidFill>
                <a:latin typeface="Calibri"/>
              </a:rPr>
              <a:t>Base vectorial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27355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ChromaDB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200400"/>
            <a:ext cx="5394960" cy="658368"/>
          </a:xfrm>
          <a:prstGeom prst="rect">
            <a:avLst/>
          </a:prstGeom>
          <a:solidFill>
            <a:srgbClr val="2F2F2F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273552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B4F8"/>
                </a:solidFill>
                <a:latin typeface="Calibri"/>
              </a:rPr>
              <a:t>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27355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OpenAI (text-embedding-ada-002)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23360"/>
            <a:ext cx="5394960" cy="658368"/>
          </a:xfrm>
          <a:prstGeom prst="rect">
            <a:avLst/>
          </a:prstGeom>
          <a:solidFill>
            <a:srgbClr val="2F2F2F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B4F8"/>
                </a:solidFill>
                <a:latin typeface="Calibri"/>
              </a:rPr>
              <a:t>Lectura de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09651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pypdf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023360"/>
            <a:ext cx="5394960" cy="658368"/>
          </a:xfrm>
          <a:prstGeom prst="rect">
            <a:avLst/>
          </a:prstGeom>
          <a:solidFill>
            <a:srgbClr val="2F2F2F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096512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B4F8"/>
                </a:solidFill>
                <a:latin typeface="Calibri"/>
              </a:rPr>
              <a:t>Seguridad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09651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bcrypt (hash de contraseñas)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46320"/>
            <a:ext cx="5394960" cy="658368"/>
          </a:xfrm>
          <a:prstGeom prst="rect">
            <a:avLst/>
          </a:prstGeom>
          <a:solidFill>
            <a:srgbClr val="2F2F2F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919472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B4F8"/>
                </a:solidFill>
                <a:latin typeface="Calibri"/>
              </a:rPr>
              <a:t>Repositorio / 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91947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GitHub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846320"/>
            <a:ext cx="5394960" cy="658368"/>
          </a:xfrm>
          <a:prstGeom prst="rect">
            <a:avLst/>
          </a:prstGeom>
          <a:solidFill>
            <a:srgbClr val="2F2F2F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4919472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B4F8"/>
                </a:solidFill>
                <a:latin typeface="Calibri"/>
              </a:rPr>
              <a:t>Hosting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919472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CECF1"/>
                </a:solidFill>
                <a:latin typeface="Calibri"/>
              </a:rPr>
              <a:t>Streamlit Community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5. Cómo funciona la IA por dentro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A9AA8"/>
                </a:solidFill>
                <a:latin typeface="Calibri"/>
              </a:rPr>
              <a:t>RAG = Recuperación + Generación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1. Indexación: cada PDF se divide en fragmentos y se convierte en vectores (ChromaDB).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2. Pregunta: el usuario escribe su consulta.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3. Búsqueda: se buscan los fragmentos más parecidos a la pregunta.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4. Selección de caso: se elige UN solo documento (no mezcla casos) usando título + semántica.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5. Generación: GPT-3.5 redacta la respuesta usando SOLO ese documento.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6. Continuidad: recuerda el caso para preguntas de seguimiento ('paso a paso').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760720"/>
            <a:ext cx="10607040" cy="640080"/>
          </a:xfrm>
          <a:prstGeom prst="rect">
            <a:avLst/>
          </a:prstGeom>
          <a:solidFill>
            <a:srgbClr val="2F2F2F"/>
          </a:solidFill>
          <a:ln w="15240">
            <a:solidFill>
              <a:srgbClr val="6CC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6CC04A"/>
                </a:solidFill>
                <a:latin typeface="Calibri"/>
              </a:rPr>
              <a:t>Clave: la IA NO inventa. Responde únicamente con la documentación oficial de Corus.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6. Seguridad y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Acceso por usuario y contraseña, una cuenta por persona (sin mezcla de información).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Contraseñas cifradas con bcrypt (hash), gestionadas en Streamlit Secrets.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Bloqueo temporal tras 5 intentos fallidos (anti fuerza bruta).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Cierre de sesión automático por inactividad (15 minutos).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Modo mantenimiento: cerrar/activar el servidor (panel admin o script desde el PC).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Repositorio privado, HTTPS y protección XSRF (a nivel de plataforma).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9A9AA8"/>
                </a:solidFill>
                <a:latin typeface="Calibri"/>
              </a:rPr>
              <a:t>–  Nota: firewall / anti-DDoS los gestiona la plataforma (Streamlit/Cloudflare).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7. Despliegue y mantenimiento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Código versionado en GitHub (rama main).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Despliegue continuo: cada cambio en GitHub redespliega la app automáticamente.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Auto-indexado: al iniciar, la app reconstruye la base de documentos desde los PDFs del repo.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Carpetas dinámicas: subir una carpeta nueva de PDFs la agrega e indexa sola.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Secrets para credenciales (API key de OpenAI y usuarios), nunca en el código.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9A9AA8"/>
                </a:solidFill>
                <a:latin typeface="Calibri"/>
              </a:rPr>
              <a:t>–  Streamlit Cloud borra el disco al redesplegar -&gt; por eso se reindexa solo.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Estructura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A9AA8"/>
                </a:solidFill>
                <a:latin typeface="Calibri"/>
              </a:rPr>
              <a:t>Los archivos clave detrás de la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8AB4F8"/>
                </a:solidFill>
                <a:latin typeface="Consolas"/>
              </a:rPr>
              <a:t>app_corus.py   </a:t>
            </a:r>
            <a:r>
              <a:rPr sz="1400">
                <a:solidFill>
                  <a:srgbClr val="ECECF1"/>
                </a:solidFill>
                <a:latin typeface="Calibri"/>
              </a:rPr>
              <a:t>→ Interfaz: login, chat, panel admin, seguridad, control de servidor.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8AB4F8"/>
                </a:solidFill>
                <a:latin typeface="Consolas"/>
              </a:rPr>
              <a:t>ia_motor.py   </a:t>
            </a:r>
            <a:r>
              <a:rPr sz="1400">
                <a:solidFill>
                  <a:srgbClr val="ECECF1"/>
                </a:solidFill>
                <a:latin typeface="Calibri"/>
              </a:rPr>
              <a:t>→ Motor IA (RAG): búsqueda, selección de caso y generación.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8AB4F8"/>
                </a:solidFill>
                <a:latin typeface="Consolas"/>
              </a:rPr>
              <a:t>procesar_datos.py   </a:t>
            </a:r>
            <a:r>
              <a:rPr sz="1400">
                <a:solidFill>
                  <a:srgbClr val="ECECF1"/>
                </a:solidFill>
                <a:latin typeface="Calibri"/>
              </a:rPr>
              <a:t>→ Lectura de PDFs y creación de la base vectorial.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8AB4F8"/>
                </a:solidFill>
                <a:latin typeface="Consolas"/>
              </a:rPr>
              <a:t>chat_procesos.py   </a:t>
            </a:r>
            <a:r>
              <a:rPr sz="1400">
                <a:solidFill>
                  <a:srgbClr val="ECECF1"/>
                </a:solidFill>
                <a:latin typeface="Calibri"/>
              </a:rPr>
              <a:t>→ Gestión de la conversación y memoria por usuario.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8AB4F8"/>
                </a:solidFill>
                <a:latin typeface="Consolas"/>
              </a:rPr>
              <a:t>requirements.txt / packages.txt   </a:t>
            </a:r>
            <a:r>
              <a:rPr sz="1400">
                <a:solidFill>
                  <a:srgbClr val="ECECF1"/>
                </a:solidFill>
                <a:latin typeface="Calibri"/>
              </a:rPr>
              <a:t>→ Dependencias del proyecto.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8AB4F8"/>
                </a:solidFill>
                <a:latin typeface="Consolas"/>
              </a:rPr>
              <a:t>.streamlit/config.toml   </a:t>
            </a:r>
            <a:r>
              <a:rPr sz="1400">
                <a:solidFill>
                  <a:srgbClr val="ECECF1"/>
                </a:solidFill>
                <a:latin typeface="Calibri"/>
              </a:rPr>
              <a:t>→ Tema oscuro y configuración del servidor.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8AB4F8"/>
                </a:solidFill>
                <a:latin typeface="Consolas"/>
              </a:rPr>
              <a:t>estado_app.json   </a:t>
            </a:r>
            <a:r>
              <a:rPr sz="1400">
                <a:solidFill>
                  <a:srgbClr val="ECECF1"/>
                </a:solidFill>
                <a:latin typeface="Calibri"/>
              </a:rPr>
              <a:t>→ Interruptor de mantenimiento (encendido/apagado).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8AB4F8"/>
                </a:solidFill>
                <a:latin typeface="Consolas"/>
              </a:rPr>
              <a:t>Manual *.../   </a:t>
            </a:r>
            <a:r>
              <a:rPr sz="1400">
                <a:solidFill>
                  <a:srgbClr val="ECECF1"/>
                </a:solidFill>
                <a:latin typeface="Calibri"/>
              </a:rPr>
              <a:t>→ Carpetas con los PDFs de los procesos.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Ejemplo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A9AA8"/>
                </a:solidFill>
                <a:latin typeface="Calibri"/>
              </a:rPr>
              <a:t>“¿Cómo cambio la información en el expediente?”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El usuario escribe la pregunta en el chat.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El motor busca en ChromaDB los fragmentos más parecidos.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Detecta que el caso correcto es 'cambio de información doc' (no lo confunde con otros).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Toma TODO ese documento y se lo pasa a GPT-3.5.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GPT redacta los pasos + las consultas SQL exactas del manual.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>
                <a:solidFill>
                  <a:srgbClr val="ECECF1"/>
                </a:solidFill>
                <a:latin typeface="Calibri"/>
              </a:rPr>
              <a:t>•  Se muestran las fuentes en estilo terminal para verificar.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8. Resultados y próximos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011680" cy="381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6CC04A"/>
                </a:solidFill>
                <a:latin typeface="Calibri"/>
              </a:rPr>
              <a:t>✅ Logrado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ECECF1"/>
                </a:solidFill>
                <a:latin typeface="Calibri"/>
              </a:rPr>
              <a:t>•  Asistente funcional desplegado en la nube.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ECECF1"/>
                </a:solidFill>
                <a:latin typeface="Calibri"/>
              </a:rPr>
              <a:t>•  Respuestas completas y por caso (sin mezclar).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ECECF1"/>
                </a:solidFill>
                <a:latin typeface="Calibri"/>
              </a:rPr>
              <a:t>•  Interfaz moderna estilo ChatGPT/Gemini.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ECECF1"/>
                </a:solidFill>
                <a:latin typeface="Calibri"/>
              </a:rPr>
              <a:t>•  Multiusuario seguro y control de mantenimiento.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ECECF1"/>
                </a:solidFill>
                <a:latin typeface="Calibri"/>
              </a:rPr>
              <a:t>•  Indexado automático de documentos.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8AB4F8"/>
                </a:solidFill>
                <a:latin typeface="Calibri"/>
              </a:rPr>
              <a:t>🚀 Próximos pasos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ECECF1"/>
                </a:solidFill>
                <a:latin typeface="Calibri"/>
              </a:rPr>
              <a:t>•  Migrar a un modelo más potente (GPT-4) si se requiere.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ECECF1"/>
                </a:solidFill>
                <a:latin typeface="Calibri"/>
              </a:rPr>
              <a:t>•  Base de datos persistente para historial.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ECECF1"/>
                </a:solidFill>
                <a:latin typeface="Calibri"/>
              </a:rPr>
              <a:t>•  Métricas de uso y satisfacción.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ECECF1"/>
                </a:solidFill>
                <a:latin typeface="Calibri"/>
              </a:rPr>
              <a:t>•  Más manuales y áreas de la empresa.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ECECF1"/>
                </a:solidFill>
                <a:latin typeface="Calibri"/>
              </a:rPr>
              <a:t>•  Hash en todas las cuentas del equipo.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093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A9AA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8AB4F8"/>
                </a:solidFill>
                <a:latin typeface="Calibri"/>
              </a:rPr>
              <a:t>Asistente IA Corporativo · CorusIntranetEngine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9A9AA8"/>
                </a:solidFill>
                <a:latin typeface="Calibri"/>
              </a:rP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